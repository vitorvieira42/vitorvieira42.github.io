
<file path=[Content_Types].xml><?xml version="1.0" encoding="utf-8"?>
<Types xmlns="http://schemas.openxmlformats.org/package/2006/content-types"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11D1917-808A-4CEC-B1E7-57D72F638D94}"/>
              </a:ext>
            </a:extLst>
          </p:cNvPr>
          <p:cNvSpPr txBox="1"/>
          <p:nvPr/>
        </p:nvSpPr>
        <p:spPr>
          <a:xfrm>
            <a:off x="762000" y="819150"/>
            <a:ext cx="5905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3641F"/>
                </a:solidFill>
                <a:latin typeface="Segoe UI"/>
                <a:ea typeface="Segoe UI"/>
              </a:rPr>
              <a:t>CONTROLE DE ESTOQUE · ANÁLISE DE PERDAS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3D9143-2BD7-4860-873D-4D4EE412476D}"/>
              </a:ext>
            </a:extLst>
          </p:cNvPr>
          <p:cNvSpPr txBox="1"/>
          <p:nvPr/>
        </p:nvSpPr>
        <p:spPr>
          <a:xfrm>
            <a:off x="762000" y="1143000"/>
            <a:ext cx="6096000" cy="2514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2A2118"/>
                </a:solidFill>
                <a:latin typeface="Georgia"/>
                <a:ea typeface="Georgia"/>
              </a:rPr>
              <a:t>Controle de</a:t>
            </a:r>
          </a:p>
          <a:p>
            <a:pPr algn="l">
              <a:lnSpc>
                <a:spcPct val="108000"/>
              </a:lnSpc>
            </a:pPr>
            <a:r>
              <a:rPr sz="4600" b="1">
                <a:solidFill>
                  <a:srgbClr val="2A2118"/>
                </a:solidFill>
                <a:latin typeface="Georgia"/>
                <a:ea typeface="Georgia"/>
              </a:rPr>
              <a:t>Estoque de</a:t>
            </a:r>
          </a:p>
          <a:p>
            <a:pPr algn="l">
              <a:lnSpc>
                <a:spcPct val="108000"/>
              </a:lnSpc>
            </a:pPr>
            <a:r>
              <a:rPr sz="4600" b="1">
                <a:solidFill>
                  <a:srgbClr val="B3641F"/>
                </a:solidFill>
                <a:latin typeface="Georgia"/>
                <a:ea typeface="Georgia"/>
              </a:rPr>
              <a:t>Padaria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47CCBA4-AA45-4749-983E-92611A0412A8}"/>
              </a:ext>
            </a:extLst>
          </p:cNvPr>
          <p:cNvSpPr txBox="1"/>
          <p:nvPr/>
        </p:nvSpPr>
        <p:spPr>
          <a:xfrm>
            <a:off x="762000" y="3810000"/>
            <a:ext cx="5905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7C6A56"/>
                </a:solidFill>
                <a:latin typeface="Segoe UI"/>
                <a:ea typeface="Segoe UI"/>
              </a:rPr>
              <a:t>Perda, cobertura e reposição calculadas com as fórmulas de quem trabalha no balcão — sem build, sem backend, sem CDN.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449FA96-9FA8-4C69-ADB0-A34647646A17}"/>
              </a:ext>
            </a:extLst>
          </p:cNvPr>
          <p:cNvSpPr/>
          <p:nvPr/>
        </p:nvSpPr>
        <p:spPr>
          <a:xfrm>
            <a:off x="762000" y="5676900"/>
            <a:ext cx="6096000" cy="9525"/>
          </a:xfrm>
          <a:prstGeom prst="rect">
            <a:avLst/>
          </a:prstGeom>
          <a:solidFill>
            <a:srgbClr val="E3D8C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8A70B25-8B5C-4DF9-8B60-CE5857BC59ED}"/>
              </a:ext>
            </a:extLst>
          </p:cNvPr>
          <p:cNvSpPr txBox="1"/>
          <p:nvPr/>
        </p:nvSpPr>
        <p:spPr>
          <a:xfrm>
            <a:off x="762000" y="5867400"/>
            <a:ext cx="6096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3641F"/>
                </a:solidFill>
                <a:latin typeface="Consolas"/>
                <a:ea typeface="Consolas"/>
              </a:rPr>
              <a:t>vitorvieira42.github.io/controle-estoque-padaria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9C8B78"/>
                </a:solidFill>
                <a:latin typeface="Consolas"/>
                <a:ea typeface="Consolas"/>
              </a:rPr>
              <a:t>github.com/Vitorvieira42/controle-estoque-padaria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9C3A04E-A193-4924-B3DF-D0A0623D3353}"/>
              </a:ext>
            </a:extLst>
          </p:cNvPr>
          <p:cNvSpPr/>
          <p:nvPr/>
        </p:nvSpPr>
        <p:spPr>
          <a:xfrm>
            <a:off x="7239000" y="1143000"/>
            <a:ext cx="4191000" cy="44767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9B5838E-D86D-4FD1-B683-19A4CBD9251A}"/>
              </a:ext>
            </a:extLst>
          </p:cNvPr>
          <p:cNvSpPr txBox="1"/>
          <p:nvPr/>
        </p:nvSpPr>
        <p:spPr>
          <a:xfrm>
            <a:off x="7524750" y="1409700"/>
            <a:ext cx="3619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FICHA DA DEMONSTRAÇÃO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7E0BFCF-1A39-489F-9801-A278393E123F}"/>
              </a:ext>
            </a:extLst>
          </p:cNvPr>
          <p:cNvSpPr/>
          <p:nvPr/>
        </p:nvSpPr>
        <p:spPr>
          <a:xfrm>
            <a:off x="7524750" y="1733550"/>
            <a:ext cx="3619500" cy="9525"/>
          </a:xfrm>
          <a:prstGeom prst="rect">
            <a:avLst/>
          </a:prstGeom>
          <a:solidFill>
            <a:srgbClr val="E3D8C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FEFEC27-FFAB-46E6-BDC7-AA5A9D868B0C}"/>
              </a:ext>
            </a:extLst>
          </p:cNvPr>
          <p:cNvSpPr txBox="1"/>
          <p:nvPr/>
        </p:nvSpPr>
        <p:spPr>
          <a:xfrm>
            <a:off x="7524750" y="1943100"/>
            <a:ext cx="3619500" cy="2438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produtos .........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42</a:t>
            </a:r>
          </a:p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categorias .......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7</a:t>
            </a:r>
          </a:p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fornecedores .....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15</a:t>
            </a:r>
          </a:p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com validade .....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18</a:t>
            </a:r>
          </a:p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movimentações 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4.809</a:t>
            </a:r>
          </a:p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período ..........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90 dias</a:t>
            </a:r>
          </a:p>
          <a:p>
            <a:pPr algn="l">
              <a:lnSpc>
                <a:spcPct val="175000"/>
              </a:lnSpc>
            </a:pPr>
            <a:r>
              <a:rPr sz="1300">
                <a:solidFill>
                  <a:srgbClr val="7C6A56"/>
                </a:solidFill>
                <a:latin typeface="Consolas"/>
                <a:ea typeface="Consolas"/>
              </a:rPr>
              <a:t>seed ............. </a:t>
            </a:r>
            <a:r>
              <a:rPr sz="1300" b="1">
                <a:solidFill>
                  <a:srgbClr val="B3641F"/>
                </a:solidFill>
                <a:latin typeface="Consolas"/>
                <a:ea typeface="Consolas"/>
              </a:rPr>
              <a:t>20261017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99D9639-63E0-4722-BD7D-77D5D5882717}"/>
              </a:ext>
            </a:extLst>
          </p:cNvPr>
          <p:cNvSpPr txBox="1"/>
          <p:nvPr/>
        </p:nvSpPr>
        <p:spPr>
          <a:xfrm>
            <a:off x="7524750" y="4533900"/>
            <a:ext cx="3619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9C8B78"/>
                </a:solidFill>
                <a:latin typeface="Segoe UI"/>
                <a:ea typeface="Segoe UI"/>
              </a:rPr>
              <a:t>Gerador com PRNG mulberry32 e seed fixa: o mesmo saldo, as mesmas séries e os mesmos indicadores em qualquer máquina.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2B14C05-D249-4F13-B0ED-9C774E6FA972}"/>
              </a:ext>
            </a:extLst>
          </p:cNvPr>
          <p:cNvSpPr txBox="1"/>
          <p:nvPr/>
        </p:nvSpPr>
        <p:spPr>
          <a:xfrm>
            <a:off x="762000" y="533400"/>
            <a:ext cx="381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O PROBLEMA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BE653D-E812-4604-B49D-91A406268EBB}"/>
              </a:ext>
            </a:extLst>
          </p:cNvPr>
          <p:cNvSpPr txBox="1"/>
          <p:nvPr/>
        </p:nvSpPr>
        <p:spPr>
          <a:xfrm>
            <a:off x="762000" y="800100"/>
            <a:ext cx="10668000" cy="5364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A2118"/>
                </a:solidFill>
                <a:latin typeface="Georgia"/>
                <a:ea typeface="Georgia"/>
              </a:rPr>
              <a:t>Estoque de padaria não é lista de material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37DAB66-2502-4D3D-B3B4-AC12A348652B}"/>
              </a:ext>
            </a:extLst>
          </p:cNvPr>
          <p:cNvSpPr txBox="1"/>
          <p:nvPr/>
        </p:nvSpPr>
        <p:spPr>
          <a:xfrm>
            <a:off x="762000" y="1447800"/>
            <a:ext cx="5334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7C6A56"/>
                </a:solidFill>
                <a:latin typeface="Georgia"/>
                <a:ea typeface="Georgia"/>
              </a:rPr>
              <a:t>Planilha genérica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17EE198-B42C-442D-A32B-EA6B79830DF4}"/>
              </a:ext>
            </a:extLst>
          </p:cNvPr>
          <p:cNvSpPr txBox="1"/>
          <p:nvPr/>
        </p:nvSpPr>
        <p:spPr>
          <a:xfrm>
            <a:off x="6477000" y="1447800"/>
            <a:ext cx="5334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3641F"/>
                </a:solidFill>
                <a:latin typeface="Georgia"/>
                <a:ea typeface="Georgia"/>
              </a:rPr>
              <a:t>Modelo que entende padaria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D64232D-3A90-4CE4-BFFF-746D0BEE34B3}"/>
              </a:ext>
            </a:extLst>
          </p:cNvPr>
          <p:cNvSpPr/>
          <p:nvPr/>
        </p:nvSpPr>
        <p:spPr>
          <a:xfrm>
            <a:off x="762000" y="1866900"/>
            <a:ext cx="5334000" cy="31432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EE59714-DEF3-4A30-A6B4-1624133B353E}"/>
              </a:ext>
            </a:extLst>
          </p:cNvPr>
          <p:cNvSpPr txBox="1"/>
          <p:nvPr/>
        </p:nvSpPr>
        <p:spPr>
          <a:xfrm>
            <a:off x="1047750" y="2057400"/>
            <a:ext cx="4762500" cy="2762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Perda misturada com consumo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Quebra, avaria e vencimento no mesmo campo de saída.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Validade que ninguém acompanha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O lote vence e só aparece na hora do lixo.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Mínimo chutado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Sem dias de cobertura, o mínimo é um chute.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Saldo corrigido sem rastro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A célula muda e o histórico some junto.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D0F3D4D-E84E-43C4-9EE7-2659D9EAEC30}"/>
              </a:ext>
            </a:extLst>
          </p:cNvPr>
          <p:cNvSpPr/>
          <p:nvPr/>
        </p:nvSpPr>
        <p:spPr>
          <a:xfrm>
            <a:off x="6477000" y="1866900"/>
            <a:ext cx="5334000" cy="314325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E4088E9-05EC-4F5F-B5CF-C635F2D39ABD}"/>
              </a:ext>
            </a:extLst>
          </p:cNvPr>
          <p:cNvSpPr txBox="1"/>
          <p:nvPr/>
        </p:nvSpPr>
        <p:spPr>
          <a:xfrm>
            <a:off x="6762750" y="2057400"/>
            <a:ext cx="4762500" cy="2762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Motivo tipado em cada saída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Venda, consumo, produção, quebra, avaria, vencimento.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Janela de validade configurável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Alerta três, sete, quinze ou trinta dias antes.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Cobertura em dias de verdade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Saldo dividido pela média diária de consumo.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2A2118"/>
                </a:solidFill>
                <a:latin typeface="Segoe UI"/>
                <a:ea typeface="Segoe UI"/>
              </a:rPr>
              <a:t>Ajuste que vira movimento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Toda correção entra como Correção de inventário.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FB0E7FE-2673-4A1F-88F5-D746C2BFC77E}"/>
              </a:ext>
            </a:extLst>
          </p:cNvPr>
          <p:cNvSpPr txBox="1"/>
          <p:nvPr/>
        </p:nvSpPr>
        <p:spPr>
          <a:xfrm>
            <a:off x="762000" y="533400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9C8B78"/>
                </a:solidFill>
                <a:latin typeface="Segoe UI"/>
                <a:ea typeface="Segoe UI"/>
              </a:rPr>
              <a:t>Inventário de demonstração: 42 produtos · 7 categorias · 15 fornecedores · 18 controlados por validade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740FFBB-157A-4362-ACA7-89DD5D57011A}"/>
              </a:ext>
            </a:extLst>
          </p:cNvPr>
          <p:cNvSpPr txBox="1"/>
          <p:nvPr/>
        </p:nvSpPr>
        <p:spPr>
          <a:xfrm>
            <a:off x="762000" y="533400"/>
            <a:ext cx="381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MODELO DE DADOS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F3E600-85D1-4208-975C-7E5FF6791E4A}"/>
              </a:ext>
            </a:extLst>
          </p:cNvPr>
          <p:cNvSpPr txBox="1"/>
          <p:nvPr/>
        </p:nvSpPr>
        <p:spPr>
          <a:xfrm>
            <a:off x="762000" y="800100"/>
            <a:ext cx="9525000" cy="5364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A2118"/>
                </a:solidFill>
                <a:latin typeface="Georgia"/>
                <a:ea typeface="Georgia"/>
              </a:rPr>
              <a:t>O modelo por trás das quatro telas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BB735AE-BFB3-4F89-9C94-F49C1461FDDA}"/>
              </a:ext>
            </a:extLst>
          </p:cNvPr>
          <p:cNvSpPr txBox="1"/>
          <p:nvPr/>
        </p:nvSpPr>
        <p:spPr>
          <a:xfrm>
            <a:off x="762000" y="1428750"/>
            <a:ext cx="5334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3641F"/>
                </a:solidFill>
                <a:latin typeface="Georgia"/>
                <a:ea typeface="Georgia"/>
              </a:rPr>
              <a:t>Produto · o cadastro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0EA53D-E233-4449-BD25-18652005B178}"/>
              </a:ext>
            </a:extLst>
          </p:cNvPr>
          <p:cNvSpPr txBox="1"/>
          <p:nvPr/>
        </p:nvSpPr>
        <p:spPr>
          <a:xfrm>
            <a:off x="6477000" y="1428750"/>
            <a:ext cx="5334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3641F"/>
                </a:solidFill>
                <a:latin typeface="Georgia"/>
                <a:ea typeface="Georgia"/>
              </a:rPr>
              <a:t>Movimentação · o histórico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1DB5A70-2DA5-4F19-A904-59B4E99256BB}"/>
              </a:ext>
            </a:extLst>
          </p:cNvPr>
          <p:cNvSpPr/>
          <p:nvPr/>
        </p:nvSpPr>
        <p:spPr>
          <a:xfrm>
            <a:off x="762000" y="1809750"/>
            <a:ext cx="5334000" cy="35433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1CDE185-F4C6-44D3-BA45-63185043B781}"/>
              </a:ext>
            </a:extLst>
          </p:cNvPr>
          <p:cNvSpPr txBox="1"/>
          <p:nvPr/>
        </p:nvSpPr>
        <p:spPr>
          <a:xfrm>
            <a:off x="1047750" y="2000250"/>
            <a:ext cx="47625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nome    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como aparece na gôndola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sku     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único, barrado no cadastro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categoria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um dos 7 grupos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unidade 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un · kg · L · pct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precoCusto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base do valor imobilizado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precoVenda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base da receita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qtd     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saldo atual, nunca negativo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qtdMin  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piso que dispara alerta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fornecedor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15 cadastrados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validade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18 produtos controlados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ativo        </a:t>
            </a:r>
            <a:r>
              <a:rPr sz="1100">
                <a:solidFill>
                  <a:srgbClr val="7C6A56"/>
                </a:solidFill>
                <a:latin typeface="Consolas"/>
                <a:ea typeface="Consolas"/>
              </a:rPr>
              <a:t>entra ou sai do cálculo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5B81EF0-1105-4170-BBF2-5921CCB996A5}"/>
              </a:ext>
            </a:extLst>
          </p:cNvPr>
          <p:cNvSpPr/>
          <p:nvPr/>
        </p:nvSpPr>
        <p:spPr>
          <a:xfrm>
            <a:off x="6477000" y="1809750"/>
            <a:ext cx="5334000" cy="354330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4CF348B-69B9-4046-B85F-1E9C20FD00D8}"/>
              </a:ext>
            </a:extLst>
          </p:cNvPr>
          <p:cNvSpPr txBox="1"/>
          <p:nvPr/>
        </p:nvSpPr>
        <p:spPr>
          <a:xfrm>
            <a:off x="6762750" y="2000250"/>
            <a:ext cx="47625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tipo         </a:t>
            </a: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entrada · saida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quantidade   </a:t>
            </a: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validada contra o saldo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motivo       </a:t>
            </a: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Venda · Consumo interno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             Produção · Quebra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             Avaria · Vencimento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data         </a:t>
            </a: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série dos 90 dias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produtoId    </a:t>
            </a: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liga ao cadastro</a:t>
            </a:r>
          </a:p>
          <a:p>
            <a:pPr algn="l">
              <a:lnSpc>
                <a:spcPct val="138000"/>
              </a:lnSpc>
            </a:pPr>
            <a:r>
              <a:rPr sz="1100">
                <a:solidFill>
                  <a:srgbClr val="2A2118"/>
                </a:solidFill>
                <a:latin typeface="Consolas"/>
                <a:ea typeface="Consolas"/>
              </a:rPr>
              <a:t>nota         </a:t>
            </a:r>
            <a:r>
              <a:rPr sz="1100">
                <a:solidFill>
                  <a:srgbClr val="6B5240"/>
                </a:solidFill>
                <a:latin typeface="Consolas"/>
                <a:ea typeface="Consolas"/>
              </a:rPr>
              <a:t>texto livre do operador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5165595-70AE-4284-9F75-A7B5CDE20241}"/>
              </a:ext>
            </a:extLst>
          </p:cNvPr>
          <p:cNvSpPr txBox="1"/>
          <p:nvPr/>
        </p:nvSpPr>
        <p:spPr>
          <a:xfrm>
            <a:off x="6762750" y="4038600"/>
            <a:ext cx="4762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Um ajuste de saldo não é uma edição de tabela</a:t>
            </a:r>
          </a:p>
          <a:p>
            <a:pPr algn="l">
              <a:lnSpc>
                <a:spcPct val="122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Quando o operador corrige a quantidade à mão, a aplicação grava um movimento do tipo Correção de inventário. O saldo novo vem do histórico, e não de uma célula sobrescrita.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05AD675-FEE5-4BB5-9791-612EE5270B8E}"/>
              </a:ext>
            </a:extLst>
          </p:cNvPr>
          <p:cNvSpPr txBox="1"/>
          <p:nvPr/>
        </p:nvSpPr>
        <p:spPr>
          <a:xfrm>
            <a:off x="762000" y="563880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9C8B78"/>
                </a:solidFill>
                <a:latin typeface="Segoe UI"/>
                <a:ea typeface="Segoe UI"/>
              </a:rPr>
              <a:t>Documento persistido em padaria.estoque.v1 · tema em padaria.estoque.tema · com version, products, movements e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6926E33-96C3-4104-8B27-EEDBBE34B454}"/>
              </a:ext>
            </a:extLst>
          </p:cNvPr>
          <p:cNvSpPr txBox="1"/>
          <p:nvPr/>
        </p:nvSpPr>
        <p:spPr>
          <a:xfrm>
            <a:off x="762000" y="533400"/>
            <a:ext cx="4000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DEMO DETERMINÍSTICA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D56206-B0AB-4DDC-B8B3-337E9ECFEF40}"/>
              </a:ext>
            </a:extLst>
          </p:cNvPr>
          <p:cNvSpPr txBox="1"/>
          <p:nvPr/>
        </p:nvSpPr>
        <p:spPr>
          <a:xfrm>
            <a:off x="762000" y="800100"/>
            <a:ext cx="10668000" cy="5364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A2118"/>
                </a:solidFill>
                <a:latin typeface="Georgia"/>
                <a:ea typeface="Georgia"/>
              </a:rPr>
              <a:t>Noventa dias de histórico que se repetem iguais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0668920-CDFA-4488-87D9-57D81A56AF88}"/>
              </a:ext>
            </a:extLst>
          </p:cNvPr>
          <p:cNvSpPr txBox="1"/>
          <p:nvPr/>
        </p:nvSpPr>
        <p:spPr>
          <a:xfrm>
            <a:off x="762000" y="13525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4.809 movimentações geradas por mulberry32 com seed 20261017. Recarregar a página não muda um número.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8519E84-E805-4193-A79A-F18F1DEE6CE8}"/>
              </a:ext>
            </a:extLst>
          </p:cNvPr>
          <p:cNvSpPr/>
          <p:nvPr/>
        </p:nvSpPr>
        <p:spPr>
          <a:xfrm>
            <a:off x="762000" y="1676400"/>
            <a:ext cx="7239000" cy="41910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877708-96C4-47B4-B437-80662297A584}"/>
              </a:ext>
            </a:extLst>
          </p:cNvPr>
          <p:cNvSpPr txBox="1"/>
          <p:nvPr/>
        </p:nvSpPr>
        <p:spPr>
          <a:xfrm>
            <a:off x="1047750" y="1866900"/>
            <a:ext cx="4762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Movimentações por motivo · 90 dias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E52DAD0-E075-40CA-9B45-981A8145A58B}"/>
              </a:ext>
            </a:extLst>
          </p:cNvPr>
          <p:cNvSpPr txBox="1"/>
          <p:nvPr/>
        </p:nvSpPr>
        <p:spPr>
          <a:xfrm>
            <a:off x="1047750" y="22860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Venda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F80F06F-8C9C-4EF8-8136-ACA1FF24B9CA}"/>
              </a:ext>
            </a:extLst>
          </p:cNvPr>
          <p:cNvSpPr/>
          <p:nvPr/>
        </p:nvSpPr>
        <p:spPr>
          <a:xfrm>
            <a:off x="2667000" y="2286000"/>
            <a:ext cx="4572000" cy="209550"/>
          </a:xfrm>
          <a:prstGeom prst="rect">
            <a:avLst/>
          </a:prstGeom>
          <a:solidFill>
            <a:srgbClr val="B3641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12A788C-A0A2-455B-B296-3E13D4C132E9}"/>
              </a:ext>
            </a:extLst>
          </p:cNvPr>
          <p:cNvSpPr txBox="1"/>
          <p:nvPr/>
        </p:nvSpPr>
        <p:spPr>
          <a:xfrm>
            <a:off x="2743200" y="2286000"/>
            <a:ext cx="76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FFFDF9"/>
                </a:solidFill>
                <a:latin typeface="Consolas"/>
                <a:ea typeface="Consolas"/>
              </a:rPr>
              <a:t>1.918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014123B-4D67-4C95-A6BE-1C3267732F26}"/>
              </a:ext>
            </a:extLst>
          </p:cNvPr>
          <p:cNvSpPr txBox="1"/>
          <p:nvPr/>
        </p:nvSpPr>
        <p:spPr>
          <a:xfrm>
            <a:off x="1047750" y="27432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Consumo interno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22986C4-A2D1-4F64-B10F-04C311A77988}"/>
              </a:ext>
            </a:extLst>
          </p:cNvPr>
          <p:cNvSpPr/>
          <p:nvPr/>
        </p:nvSpPr>
        <p:spPr>
          <a:xfrm>
            <a:off x="2667000" y="2743200"/>
            <a:ext cx="377190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705B163-5F69-48EA-A525-27C88742D88D}"/>
              </a:ext>
            </a:extLst>
          </p:cNvPr>
          <p:cNvSpPr txBox="1"/>
          <p:nvPr/>
        </p:nvSpPr>
        <p:spPr>
          <a:xfrm>
            <a:off x="2743200" y="2743200"/>
            <a:ext cx="76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FFFDF9"/>
                </a:solidFill>
                <a:latin typeface="Consolas"/>
                <a:ea typeface="Consolas"/>
              </a:rPr>
              <a:t>1.584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1C199C7-7DDA-43BB-8061-DF5AD7B707EA}"/>
              </a:ext>
            </a:extLst>
          </p:cNvPr>
          <p:cNvSpPr txBox="1"/>
          <p:nvPr/>
        </p:nvSpPr>
        <p:spPr>
          <a:xfrm>
            <a:off x="1047750" y="32004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Produção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97C83ED-00F2-4B68-B914-5D0A6BD5DECE}"/>
              </a:ext>
            </a:extLst>
          </p:cNvPr>
          <p:cNvSpPr/>
          <p:nvPr/>
        </p:nvSpPr>
        <p:spPr>
          <a:xfrm>
            <a:off x="2667000" y="3200400"/>
            <a:ext cx="196215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DAF4654-4E38-4460-9975-39AAEC4FD397}"/>
              </a:ext>
            </a:extLst>
          </p:cNvPr>
          <p:cNvSpPr txBox="1"/>
          <p:nvPr/>
        </p:nvSpPr>
        <p:spPr>
          <a:xfrm>
            <a:off x="2743200" y="320040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FFFDF9"/>
                </a:solidFill>
                <a:latin typeface="Consolas"/>
                <a:ea typeface="Consolas"/>
              </a:rPr>
              <a:t>822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AF4C287-5486-4992-9B19-94BBF8FFCAB6}"/>
              </a:ext>
            </a:extLst>
          </p:cNvPr>
          <p:cNvSpPr txBox="1"/>
          <p:nvPr/>
        </p:nvSpPr>
        <p:spPr>
          <a:xfrm>
            <a:off x="1047750" y="36576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Compra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8808579-18EF-408B-96D2-B06E1201C9FA}"/>
              </a:ext>
            </a:extLst>
          </p:cNvPr>
          <p:cNvSpPr/>
          <p:nvPr/>
        </p:nvSpPr>
        <p:spPr>
          <a:xfrm>
            <a:off x="2667000" y="3657600"/>
            <a:ext cx="942975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E7254FD-8B2C-4AFB-B0F8-69607EB1B5AD}"/>
              </a:ext>
            </a:extLst>
          </p:cNvPr>
          <p:cNvSpPr txBox="1"/>
          <p:nvPr/>
        </p:nvSpPr>
        <p:spPr>
          <a:xfrm>
            <a:off x="3695700" y="365760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395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D98F5A6-D08F-4B19-80E8-B632894C30CC}"/>
              </a:ext>
            </a:extLst>
          </p:cNvPr>
          <p:cNvSpPr txBox="1"/>
          <p:nvPr/>
        </p:nvSpPr>
        <p:spPr>
          <a:xfrm>
            <a:off x="1047750" y="41148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B3362B"/>
                </a:solidFill>
                <a:latin typeface="Segoe UI"/>
                <a:ea typeface="Segoe UI"/>
              </a:rPr>
              <a:t>Quebra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680CE23-D66A-40DE-9E05-89CD3B466F2B}"/>
              </a:ext>
            </a:extLst>
          </p:cNvPr>
          <p:cNvSpPr/>
          <p:nvPr/>
        </p:nvSpPr>
        <p:spPr>
          <a:xfrm>
            <a:off x="2667000" y="4114800"/>
            <a:ext cx="85725" cy="209550"/>
          </a:xfrm>
          <a:prstGeom prst="rect">
            <a:avLst/>
          </a:prstGeom>
          <a:solidFill>
            <a:srgbClr val="B336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4F129B3-9CF8-422E-9DDF-806B6CF97C11}"/>
              </a:ext>
            </a:extLst>
          </p:cNvPr>
          <p:cNvSpPr txBox="1"/>
          <p:nvPr/>
        </p:nvSpPr>
        <p:spPr>
          <a:xfrm>
            <a:off x="2838450" y="411480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B3362B"/>
                </a:solidFill>
                <a:latin typeface="Consolas"/>
                <a:ea typeface="Consolas"/>
              </a:rPr>
              <a:t>36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21BCFD9-69C4-49B9-AAD0-17002D5888BB}"/>
              </a:ext>
            </a:extLst>
          </p:cNvPr>
          <p:cNvSpPr txBox="1"/>
          <p:nvPr/>
        </p:nvSpPr>
        <p:spPr>
          <a:xfrm>
            <a:off x="1047750" y="45720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B3362B"/>
                </a:solidFill>
                <a:latin typeface="Segoe UI"/>
                <a:ea typeface="Segoe UI"/>
              </a:rPr>
              <a:t>Avaria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AE92488-E239-4D1B-9092-B6B0D85C9BD4}"/>
              </a:ext>
            </a:extLst>
          </p:cNvPr>
          <p:cNvSpPr/>
          <p:nvPr/>
        </p:nvSpPr>
        <p:spPr>
          <a:xfrm>
            <a:off x="2667000" y="4572000"/>
            <a:ext cx="66675" cy="209550"/>
          </a:xfrm>
          <a:prstGeom prst="rect">
            <a:avLst/>
          </a:prstGeom>
          <a:solidFill>
            <a:srgbClr val="B336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B1E1AC2-0553-4E7D-9A04-C6DA2E30A3F0}"/>
              </a:ext>
            </a:extLst>
          </p:cNvPr>
          <p:cNvSpPr txBox="1"/>
          <p:nvPr/>
        </p:nvSpPr>
        <p:spPr>
          <a:xfrm>
            <a:off x="2819400" y="457200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B3362B"/>
                </a:solidFill>
                <a:latin typeface="Consolas"/>
                <a:ea typeface="Consolas"/>
              </a:rPr>
              <a:t>29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DA7BD3E-046E-4182-A3F5-DF41F56C6990}"/>
              </a:ext>
            </a:extLst>
          </p:cNvPr>
          <p:cNvSpPr txBox="1"/>
          <p:nvPr/>
        </p:nvSpPr>
        <p:spPr>
          <a:xfrm>
            <a:off x="1047750" y="50292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B3362B"/>
                </a:solidFill>
                <a:latin typeface="Segoe UI"/>
                <a:ea typeface="Segoe UI"/>
              </a:rPr>
              <a:t>Vencimento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31A2F87B-02F9-4927-BED9-90EFF63D2418}"/>
              </a:ext>
            </a:extLst>
          </p:cNvPr>
          <p:cNvSpPr/>
          <p:nvPr/>
        </p:nvSpPr>
        <p:spPr>
          <a:xfrm>
            <a:off x="2667000" y="5029200"/>
            <a:ext cx="57150" cy="209550"/>
          </a:xfrm>
          <a:prstGeom prst="rect">
            <a:avLst/>
          </a:prstGeom>
          <a:solidFill>
            <a:srgbClr val="B336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E54DEDD-80CC-4108-B3EB-0529EBA08530}"/>
              </a:ext>
            </a:extLst>
          </p:cNvPr>
          <p:cNvSpPr txBox="1"/>
          <p:nvPr/>
        </p:nvSpPr>
        <p:spPr>
          <a:xfrm>
            <a:off x="2800350" y="502920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B3362B"/>
                </a:solidFill>
                <a:latin typeface="Consolas"/>
                <a:ea typeface="Consolas"/>
              </a:rPr>
              <a:t>25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78D11AA-721B-4999-99B1-7FCF96E45E69}"/>
              </a:ext>
            </a:extLst>
          </p:cNvPr>
          <p:cNvSpPr txBox="1"/>
          <p:nvPr/>
        </p:nvSpPr>
        <p:spPr>
          <a:xfrm>
            <a:off x="1047750" y="5391150"/>
            <a:ext cx="4762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C8B78"/>
                </a:solidFill>
                <a:latin typeface="Segoe UI"/>
                <a:ea typeface="Segoe UI"/>
              </a:rPr>
              <a:t>barras na escala real · 1.918 = 480 px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0C20E5FD-FB87-49E6-A725-6A4FB70E444E}"/>
              </a:ext>
            </a:extLst>
          </p:cNvPr>
          <p:cNvSpPr/>
          <p:nvPr/>
        </p:nvSpPr>
        <p:spPr>
          <a:xfrm>
            <a:off x="8286750" y="1676400"/>
            <a:ext cx="3143250" cy="419100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A6EBB37-5F13-489B-9AB5-38D697FBC330}"/>
              </a:ext>
            </a:extLst>
          </p:cNvPr>
          <p:cNvSpPr txBox="1"/>
          <p:nvPr/>
        </p:nvSpPr>
        <p:spPr>
          <a:xfrm>
            <a:off x="8515350" y="1866900"/>
            <a:ext cx="268605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3641F"/>
                </a:solidFill>
                <a:latin typeface="Segoe UI"/>
                <a:ea typeface="Segoe UI"/>
              </a:rPr>
              <a:t>A leitura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653CD7B-EC4F-4868-B4CC-E6C31286D820}"/>
              </a:ext>
            </a:extLst>
          </p:cNvPr>
          <p:cNvSpPr txBox="1"/>
          <p:nvPr/>
        </p:nvSpPr>
        <p:spPr>
          <a:xfrm>
            <a:off x="8515350" y="2209800"/>
            <a:ext cx="268605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Comparável entre versões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Seed fixa deixa print, teste e conversa sobre número possível.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998E163-37D7-4493-B7B1-3D7A47C9E991}"/>
              </a:ext>
            </a:extLst>
          </p:cNvPr>
          <p:cNvSpPr txBox="1"/>
          <p:nvPr/>
        </p:nvSpPr>
        <p:spPr>
          <a:xfrm>
            <a:off x="8515350" y="3276600"/>
            <a:ext cx="2686050" cy="1104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Perda são 90 saídas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36 quebras, 29 avarias, 25 vencimentos: volume baixo, dinheiro que evapora.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7401E1C-2ED0-48A5-AF39-298578389466}"/>
              </a:ext>
            </a:extLst>
          </p:cNvPr>
          <p:cNvSpPr txBox="1"/>
          <p:nvPr/>
        </p:nvSpPr>
        <p:spPr>
          <a:xfrm>
            <a:off x="8515350" y="4457700"/>
            <a:ext cx="2686050" cy="1257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Sábado é o pico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Fator por dia da semana: 0.72 · 0.86 · 0.94 · 1.00 · 1.12 · 1.38 · 0.95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3D394AC-782D-4FC8-B80F-36C73EB24FA0}"/>
              </a:ext>
            </a:extLst>
          </p:cNvPr>
          <p:cNvSpPr txBox="1"/>
          <p:nvPr/>
        </p:nvSpPr>
        <p:spPr>
          <a:xfrm>
            <a:off x="762000" y="533400"/>
            <a:ext cx="381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INDICADORES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BA13AF-0D53-4720-A960-7E55579F8201}"/>
              </a:ext>
            </a:extLst>
          </p:cNvPr>
          <p:cNvSpPr txBox="1"/>
          <p:nvPr/>
        </p:nvSpPr>
        <p:spPr>
          <a:xfrm>
            <a:off x="762000" y="800100"/>
            <a:ext cx="8572500" cy="5364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118"/>
                </a:solidFill>
                <a:latin typeface="Georgia"/>
                <a:ea typeface="Georgia"/>
              </a:rPr>
              <a:t>Seis números da manhã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1A7A85-73B6-4EEF-B235-C70207C3A43B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Cada cartão do dashboard carrega a conta por extenso, sem caixa-preta: a fórmula abaixo é a que roda no código.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A6301A5-F063-404B-8AB8-6924F45EF46A}"/>
              </a:ext>
            </a:extLst>
          </p:cNvPr>
          <p:cNvSpPr/>
          <p:nvPr/>
        </p:nvSpPr>
        <p:spPr>
          <a:xfrm>
            <a:off x="762000" y="1619250"/>
            <a:ext cx="2524125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9E435EB-0012-4B7A-9188-046330550B86}"/>
              </a:ext>
            </a:extLst>
          </p:cNvPr>
          <p:cNvSpPr/>
          <p:nvPr/>
        </p:nvSpPr>
        <p:spPr>
          <a:xfrm>
            <a:off x="3476625" y="1619250"/>
            <a:ext cx="2524125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7A64173-AF46-4BCA-BFCD-935EA9ACE9F6}"/>
              </a:ext>
            </a:extLst>
          </p:cNvPr>
          <p:cNvSpPr/>
          <p:nvPr/>
        </p:nvSpPr>
        <p:spPr>
          <a:xfrm>
            <a:off x="6191250" y="1619250"/>
            <a:ext cx="2524125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3833043-A39C-48F6-AFA2-26219D4618C4}"/>
              </a:ext>
            </a:extLst>
          </p:cNvPr>
          <p:cNvSpPr/>
          <p:nvPr/>
        </p:nvSpPr>
        <p:spPr>
          <a:xfrm>
            <a:off x="8905875" y="1619250"/>
            <a:ext cx="2524125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8E5A1A8-1651-4B87-9659-9F499BA956B5}"/>
              </a:ext>
            </a:extLst>
          </p:cNvPr>
          <p:cNvSpPr txBox="1"/>
          <p:nvPr/>
        </p:nvSpPr>
        <p:spPr>
          <a:xfrm>
            <a:off x="933450" y="177165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Valor imobilizado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74AEB27-75BE-4E56-A88F-5A11E3E97DDA}"/>
              </a:ext>
            </a:extLst>
          </p:cNvPr>
          <p:cNvSpPr txBox="1"/>
          <p:nvPr/>
        </p:nvSpPr>
        <p:spPr>
          <a:xfrm>
            <a:off x="3648075" y="177165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Abaixo do mínimo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728D42A-43A6-48D1-ABF3-FB624FB40D08}"/>
              </a:ext>
            </a:extLst>
          </p:cNvPr>
          <p:cNvSpPr txBox="1"/>
          <p:nvPr/>
        </p:nvSpPr>
        <p:spPr>
          <a:xfrm>
            <a:off x="6362700" y="177165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Perdas no período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DD884A1-366F-43B5-9A82-C07B22797C4F}"/>
              </a:ext>
            </a:extLst>
          </p:cNvPr>
          <p:cNvSpPr txBox="1"/>
          <p:nvPr/>
        </p:nvSpPr>
        <p:spPr>
          <a:xfrm>
            <a:off x="9077325" y="177165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Cobertura média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7E9FCF-B7C1-4EBE-8C5A-42E11D5EED27}"/>
              </a:ext>
            </a:extLst>
          </p:cNvPr>
          <p:cNvSpPr txBox="1"/>
          <p:nvPr/>
        </p:nvSpPr>
        <p:spPr>
          <a:xfrm>
            <a:off x="933450" y="2076450"/>
            <a:ext cx="2181225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3641F"/>
                </a:solidFill>
                <a:latin typeface="Consolas"/>
                <a:ea typeface="Consolas"/>
              </a:rPr>
              <a:t>Σ qtd × precoCusto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9C8B78"/>
                </a:solidFill>
                <a:latin typeface="Consolas"/>
                <a:ea typeface="Consolas"/>
              </a:rPr>
              <a:t>· somente ativos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D89258-2CDB-47DD-BA64-B81C176C7BE9}"/>
              </a:ext>
            </a:extLst>
          </p:cNvPr>
          <p:cNvSpPr txBox="1"/>
          <p:nvPr/>
        </p:nvSpPr>
        <p:spPr>
          <a:xfrm>
            <a:off x="3648075" y="2076450"/>
            <a:ext cx="2181225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3641F"/>
                </a:solidFill>
                <a:latin typeface="Consolas"/>
                <a:ea typeface="Consolas"/>
              </a:rPr>
              <a:t>qtd &lt;= qtdMin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9C8B78"/>
                </a:solidFill>
                <a:latin typeface="Consolas"/>
                <a:ea typeface="Consolas"/>
              </a:rPr>
              <a:t>ruptura: qtd &lt;= 0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A1F16A-88C5-471A-8967-0BF92F099570}"/>
              </a:ext>
            </a:extLst>
          </p:cNvPr>
          <p:cNvSpPr txBox="1"/>
          <p:nvPr/>
        </p:nvSpPr>
        <p:spPr>
          <a:xfrm>
            <a:off x="6362700" y="2076450"/>
            <a:ext cx="2181225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3641F"/>
                </a:solidFill>
                <a:latin typeface="Consolas"/>
                <a:ea typeface="Consolas"/>
              </a:rPr>
              <a:t>Σ(Vencimento + Quebra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3641F"/>
                </a:solidFill>
                <a:latin typeface="Consolas"/>
                <a:ea typeface="Consolas"/>
              </a:rPr>
              <a:t>+ Avaria) × precoCusto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6A4406-71A5-45A5-B1FA-9AF25884D989}"/>
              </a:ext>
            </a:extLst>
          </p:cNvPr>
          <p:cNvSpPr txBox="1"/>
          <p:nvPr/>
        </p:nvSpPr>
        <p:spPr>
          <a:xfrm>
            <a:off x="9077325" y="2076450"/>
            <a:ext cx="2181225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3641F"/>
                </a:solidFill>
                <a:latin typeface="Consolas"/>
                <a:ea typeface="Consolas"/>
              </a:rPr>
              <a:t>qtd ÷ (saídas 30d ÷ 30)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9C8B78"/>
                </a:solidFill>
                <a:latin typeface="Consolas"/>
                <a:ea typeface="Consolas"/>
              </a:rPr>
              <a:t>resultado em dias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6091EDC-413D-45EF-98B2-B206EFE9ED68}"/>
              </a:ext>
            </a:extLst>
          </p:cNvPr>
          <p:cNvSpPr txBox="1"/>
          <p:nvPr/>
        </p:nvSpPr>
        <p:spPr>
          <a:xfrm>
            <a:off x="933450" y="2590800"/>
            <a:ext cx="2181225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150">
                <a:solidFill>
                  <a:srgbClr val="7C6A56"/>
                </a:solidFill>
                <a:latin typeface="Segoe UI"/>
                <a:ea typeface="Segoe UI"/>
              </a:rPr>
              <a:t>O dinheiro parado na prateleira agora. A variação vem da série do período.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9F1AD83-1048-4BBE-AC18-B053F577D50A}"/>
              </a:ext>
            </a:extLst>
          </p:cNvPr>
          <p:cNvSpPr txBox="1"/>
          <p:nvPr/>
        </p:nvSpPr>
        <p:spPr>
          <a:xfrm>
            <a:off x="3648075" y="2590800"/>
            <a:ext cx="2181225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150">
                <a:solidFill>
                  <a:srgbClr val="7C6A56"/>
                </a:solidFill>
                <a:latin typeface="Segoe UI"/>
                <a:ea typeface="Segoe UI"/>
              </a:rPr>
              <a:t>Ruptura é contada à parte: ficar abaixo do mínimo é alerta, zerar é parada de venda.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F31A563-10EE-4C00-8C3C-1B2DF807617B}"/>
              </a:ext>
            </a:extLst>
          </p:cNvPr>
          <p:cNvSpPr txBox="1"/>
          <p:nvPr/>
        </p:nvSpPr>
        <p:spPr>
          <a:xfrm>
            <a:off x="6362700" y="2590800"/>
            <a:ext cx="2181225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150">
                <a:solidFill>
                  <a:srgbClr val="7C6A56"/>
                </a:solidFill>
                <a:latin typeface="Segoe UI"/>
                <a:ea typeface="Segoe UI"/>
              </a:rPr>
              <a:t>Sempre a valor de custo, nunca de venda. O cartão fica vermelho acima de 3% do imobilizado.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ADDCB9E-8606-4F21-8498-D0A6A4F294CD}"/>
              </a:ext>
            </a:extLst>
          </p:cNvPr>
          <p:cNvSpPr txBox="1"/>
          <p:nvPr/>
        </p:nvSpPr>
        <p:spPr>
          <a:xfrm>
            <a:off x="9077325" y="2590800"/>
            <a:ext cx="2181225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150">
                <a:solidFill>
                  <a:srgbClr val="7C6A56"/>
                </a:solidFill>
                <a:latin typeface="Segoe UI"/>
                <a:ea typeface="Segoe UI"/>
              </a:rPr>
              <a:t>Quantos dias o saldo atual segura o ritmo de consumo. Crítico até 2, atenção até 5.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82E34A0-43CD-4DF4-B470-77AE2C20FCDD}"/>
              </a:ext>
            </a:extLst>
          </p:cNvPr>
          <p:cNvSpPr/>
          <p:nvPr/>
        </p:nvSpPr>
        <p:spPr>
          <a:xfrm>
            <a:off x="762000" y="3943350"/>
            <a:ext cx="10858500" cy="167640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E84A974-64D7-485F-8B99-E256C29703A7}"/>
              </a:ext>
            </a:extLst>
          </p:cNvPr>
          <p:cNvSpPr txBox="1"/>
          <p:nvPr/>
        </p:nvSpPr>
        <p:spPr>
          <a:xfrm>
            <a:off x="990600" y="4133850"/>
            <a:ext cx="10382250" cy="1314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B3641F"/>
                </a:solidFill>
                <a:latin typeface="Segoe UI"/>
                <a:ea typeface="Segoe UI"/>
              </a:rPr>
              <a:t>Completam os seis indicadores do painel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Receita no período  </a:t>
            </a: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— soma de quantidade × precoVenda ao longo dos 90 dias, o contrapeso direto do valor imobilizado.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Vencendo em N dias  </a:t>
            </a: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— diffDays(hoje, validade) ≤ N, com a janela escolhível entre 3, 7, 15 e 30 dias.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6B5240"/>
                </a:solidFill>
                <a:latin typeface="Segoe UI"/>
                <a:ea typeface="Segoe UI"/>
              </a:rPr>
              <a:t>Os seis cartões ficam no topo do dashboard, e a faixa de alertas logo abaixo é clicável: cada alerta leva ao produto que o gerou.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2C63917-676D-479E-BB44-9DC52230A34E}"/>
              </a:ext>
            </a:extLst>
          </p:cNvPr>
          <p:cNvSpPr txBox="1"/>
          <p:nvPr/>
        </p:nvSpPr>
        <p:spPr>
          <a:xfrm>
            <a:off x="762000" y="5943600"/>
            <a:ext cx="10668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C8B78"/>
                </a:solidFill>
                <a:latin typeface="Consolas"/>
                <a:ea typeface="Consolas"/>
              </a:rPr>
              <a:t>fórmulas como implementadas no store da aplicação · nenhum indicador é decorativo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4B095E2-2440-496D-847E-2A6A34F44A60}"/>
              </a:ext>
            </a:extLst>
          </p:cNvPr>
          <p:cNvSpPr txBox="1"/>
          <p:nvPr/>
        </p:nvSpPr>
        <p:spPr>
          <a:xfrm>
            <a:off x="762000" y="533400"/>
            <a:ext cx="4381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COMPOSIÇÃO DO CATÁLOGO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56C842-BC30-4B7F-818C-DEE9971F13C3}"/>
              </a:ext>
            </a:extLst>
          </p:cNvPr>
          <p:cNvSpPr txBox="1"/>
          <p:nvPr/>
        </p:nvSpPr>
        <p:spPr>
          <a:xfrm>
            <a:off x="762000" y="800100"/>
            <a:ext cx="8572500" cy="5029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118"/>
                </a:solidFill>
                <a:latin typeface="Georgia"/>
                <a:ea typeface="Georgia"/>
              </a:rPr>
              <a:t>Onde o cadastro aperta primeiro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7FA1711-B882-455B-93AB-AD48A3A3BBD7}"/>
              </a:ext>
            </a:extLst>
          </p:cNvPr>
          <p:cNvSpPr txBox="1"/>
          <p:nvPr/>
        </p:nvSpPr>
        <p:spPr>
          <a:xfrm>
            <a:off x="762000" y="1333500"/>
            <a:ext cx="10668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42 produtos em 7 categorias. A distribuição importa porque cada uma cobra um cuidado diferente de validade e giro.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4176C3C-D0FE-4584-92FC-B6D8137D2EAD}"/>
              </a:ext>
            </a:extLst>
          </p:cNvPr>
          <p:cNvSpPr/>
          <p:nvPr/>
        </p:nvSpPr>
        <p:spPr>
          <a:xfrm>
            <a:off x="762000" y="1771650"/>
            <a:ext cx="6667500" cy="40957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27E06E-C3D5-4CB7-B1FB-3743A504BD18}"/>
              </a:ext>
            </a:extLst>
          </p:cNvPr>
          <p:cNvSpPr txBox="1"/>
          <p:nvPr/>
        </p:nvSpPr>
        <p:spPr>
          <a:xfrm>
            <a:off x="1047750" y="1962150"/>
            <a:ext cx="381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Produtos por categoria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E8BF2D9-EF50-42BE-A45B-B215CDE0B303}"/>
              </a:ext>
            </a:extLst>
          </p:cNvPr>
          <p:cNvSpPr txBox="1"/>
          <p:nvPr/>
        </p:nvSpPr>
        <p:spPr>
          <a:xfrm>
            <a:off x="1047750" y="23431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Ingredientes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754F509-D6FA-4176-9278-A31505D5D3D7}"/>
              </a:ext>
            </a:extLst>
          </p:cNvPr>
          <p:cNvSpPr/>
          <p:nvPr/>
        </p:nvSpPr>
        <p:spPr>
          <a:xfrm>
            <a:off x="2667000" y="2343150"/>
            <a:ext cx="4000500" cy="209550"/>
          </a:xfrm>
          <a:prstGeom prst="rect">
            <a:avLst/>
          </a:prstGeom>
          <a:solidFill>
            <a:srgbClr val="B3641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3DC6DC-2932-47AF-8D1B-308599DBA245}"/>
              </a:ext>
            </a:extLst>
          </p:cNvPr>
          <p:cNvSpPr txBox="1"/>
          <p:nvPr/>
        </p:nvSpPr>
        <p:spPr>
          <a:xfrm>
            <a:off x="2743200" y="23431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FFFDF9"/>
                </a:solidFill>
                <a:latin typeface="Consolas"/>
                <a:ea typeface="Consolas"/>
              </a:rPr>
              <a:t>14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43CD0D3-9416-4BEE-AA77-23EFC6580CE7}"/>
              </a:ext>
            </a:extLst>
          </p:cNvPr>
          <p:cNvSpPr txBox="1"/>
          <p:nvPr/>
        </p:nvSpPr>
        <p:spPr>
          <a:xfrm>
            <a:off x="1047750" y="27622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Pães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3C7C75B-6986-4372-AE00-8240428811CB}"/>
              </a:ext>
            </a:extLst>
          </p:cNvPr>
          <p:cNvSpPr/>
          <p:nvPr/>
        </p:nvSpPr>
        <p:spPr>
          <a:xfrm>
            <a:off x="2667000" y="2762250"/>
            <a:ext cx="200025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266B3C1-4A7C-4F7C-A6DE-FA6F5AE076FD}"/>
              </a:ext>
            </a:extLst>
          </p:cNvPr>
          <p:cNvSpPr txBox="1"/>
          <p:nvPr/>
        </p:nvSpPr>
        <p:spPr>
          <a:xfrm>
            <a:off x="4743450" y="27622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D0328EB-DED9-446D-A07C-B04634B776AF}"/>
              </a:ext>
            </a:extLst>
          </p:cNvPr>
          <p:cNvSpPr txBox="1"/>
          <p:nvPr/>
        </p:nvSpPr>
        <p:spPr>
          <a:xfrm>
            <a:off x="1047750" y="31813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Embalagens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380FC92-8022-497D-8B69-C921E73C5C61}"/>
              </a:ext>
            </a:extLst>
          </p:cNvPr>
          <p:cNvSpPr/>
          <p:nvPr/>
        </p:nvSpPr>
        <p:spPr>
          <a:xfrm>
            <a:off x="2667000" y="3181350"/>
            <a:ext cx="142875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78D41F3-901A-44B0-B6A1-1DCBCA89469D}"/>
              </a:ext>
            </a:extLst>
          </p:cNvPr>
          <p:cNvSpPr txBox="1"/>
          <p:nvPr/>
        </p:nvSpPr>
        <p:spPr>
          <a:xfrm>
            <a:off x="4171950" y="31813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E785028-A735-47BF-AAE8-B168AE64800F}"/>
              </a:ext>
            </a:extLst>
          </p:cNvPr>
          <p:cNvSpPr txBox="1"/>
          <p:nvPr/>
        </p:nvSpPr>
        <p:spPr>
          <a:xfrm>
            <a:off x="1047750" y="36004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Bolos &amp; Tortas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F41486F-1760-479A-A119-D2FA4FE7C7E8}"/>
              </a:ext>
            </a:extLst>
          </p:cNvPr>
          <p:cNvSpPr/>
          <p:nvPr/>
        </p:nvSpPr>
        <p:spPr>
          <a:xfrm>
            <a:off x="2667000" y="3600450"/>
            <a:ext cx="114300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C88D620-A9AD-4DA8-A032-6665232D32D6}"/>
              </a:ext>
            </a:extLst>
          </p:cNvPr>
          <p:cNvSpPr txBox="1"/>
          <p:nvPr/>
        </p:nvSpPr>
        <p:spPr>
          <a:xfrm>
            <a:off x="3886200" y="36004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736983C-B0F0-44BA-A79B-4C988BADC98D}"/>
              </a:ext>
            </a:extLst>
          </p:cNvPr>
          <p:cNvSpPr txBox="1"/>
          <p:nvPr/>
        </p:nvSpPr>
        <p:spPr>
          <a:xfrm>
            <a:off x="1047750" y="40195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Doces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065DCFE-2685-405A-86F4-9A5401E6A6C5}"/>
              </a:ext>
            </a:extLst>
          </p:cNvPr>
          <p:cNvSpPr/>
          <p:nvPr/>
        </p:nvSpPr>
        <p:spPr>
          <a:xfrm>
            <a:off x="2667000" y="4019550"/>
            <a:ext cx="114300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CD73811-3B4A-412D-BE96-FF0130CDAF20}"/>
              </a:ext>
            </a:extLst>
          </p:cNvPr>
          <p:cNvSpPr txBox="1"/>
          <p:nvPr/>
        </p:nvSpPr>
        <p:spPr>
          <a:xfrm>
            <a:off x="3886200" y="40195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6A854D6-E3D9-488F-B408-A92E4124278A}"/>
              </a:ext>
            </a:extLst>
          </p:cNvPr>
          <p:cNvSpPr txBox="1"/>
          <p:nvPr/>
        </p:nvSpPr>
        <p:spPr>
          <a:xfrm>
            <a:off x="1047750" y="44386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Salgados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E1318B0-20BF-4C90-BB1A-BAFB69776B37}"/>
              </a:ext>
            </a:extLst>
          </p:cNvPr>
          <p:cNvSpPr/>
          <p:nvPr/>
        </p:nvSpPr>
        <p:spPr>
          <a:xfrm>
            <a:off x="2667000" y="4438650"/>
            <a:ext cx="114300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BA659FA-AFAC-4ED7-9DFC-1B05E61DEFEA}"/>
              </a:ext>
            </a:extLst>
          </p:cNvPr>
          <p:cNvSpPr txBox="1"/>
          <p:nvPr/>
        </p:nvSpPr>
        <p:spPr>
          <a:xfrm>
            <a:off x="3886200" y="44386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481957A-A782-420C-A3E3-3674B5CA6F46}"/>
              </a:ext>
            </a:extLst>
          </p:cNvPr>
          <p:cNvSpPr txBox="1"/>
          <p:nvPr/>
        </p:nvSpPr>
        <p:spPr>
          <a:xfrm>
            <a:off x="1047750" y="485775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Bebidas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4FA7A091-4D35-4659-B2DF-B44A99D6BD86}"/>
              </a:ext>
            </a:extLst>
          </p:cNvPr>
          <p:cNvSpPr/>
          <p:nvPr/>
        </p:nvSpPr>
        <p:spPr>
          <a:xfrm>
            <a:off x="2667000" y="4857750"/>
            <a:ext cx="1143000" cy="209550"/>
          </a:xfrm>
          <a:prstGeom prst="rect">
            <a:avLst/>
          </a:prstGeom>
          <a:solidFill>
            <a:srgbClr val="C97A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04F8D94-97E9-4F30-A632-4BAB48619B1B}"/>
              </a:ext>
            </a:extLst>
          </p:cNvPr>
          <p:cNvSpPr txBox="1"/>
          <p:nvPr/>
        </p:nvSpPr>
        <p:spPr>
          <a:xfrm>
            <a:off x="3886200" y="4857750"/>
            <a:ext cx="38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 b="1">
                <a:solidFill>
                  <a:srgbClr val="2A2118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B780A85-0CAD-4D2D-8A86-3B548DDB29FA}"/>
              </a:ext>
            </a:extLst>
          </p:cNvPr>
          <p:cNvSpPr txBox="1"/>
          <p:nvPr/>
        </p:nvSpPr>
        <p:spPr>
          <a:xfrm>
            <a:off x="1047750" y="5295900"/>
            <a:ext cx="3810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C8B78"/>
                </a:solidFill>
                <a:latin typeface="Segoe UI"/>
                <a:ea typeface="Segoe UI"/>
              </a:rPr>
              <a:t>escala: 14 produtos = 420 px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EC87BB82-26B7-45E1-B2DC-63D3BA827059}"/>
              </a:ext>
            </a:extLst>
          </p:cNvPr>
          <p:cNvSpPr/>
          <p:nvPr/>
        </p:nvSpPr>
        <p:spPr>
          <a:xfrm>
            <a:off x="7715250" y="1771650"/>
            <a:ext cx="3714750" cy="409575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15681C7-4A0A-4152-A55F-468B9194C293}"/>
              </a:ext>
            </a:extLst>
          </p:cNvPr>
          <p:cNvSpPr txBox="1"/>
          <p:nvPr/>
        </p:nvSpPr>
        <p:spPr>
          <a:xfrm>
            <a:off x="7943850" y="1962150"/>
            <a:ext cx="325755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3641F"/>
                </a:solidFill>
                <a:latin typeface="Segoe UI"/>
                <a:ea typeface="Segoe UI"/>
              </a:rPr>
              <a:t>O que a tela faz com isso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863DBD2-88B9-4556-A73D-E2AA7F3797AF}"/>
              </a:ext>
            </a:extLst>
          </p:cNvPr>
          <p:cNvSpPr txBox="1"/>
          <p:nvPr/>
        </p:nvSpPr>
        <p:spPr>
          <a:xfrm>
            <a:off x="7943850" y="2305050"/>
            <a:ext cx="325755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Um terço do catálogo é matéria-prima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14 dos 42 produtos são ingredientes: é o maior bloco do cadastro e o que mais gira.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540B6D2-D583-414E-8A3D-E3F56A8C863D}"/>
              </a:ext>
            </a:extLst>
          </p:cNvPr>
          <p:cNvSpPr txBox="1"/>
          <p:nvPr/>
        </p:nvSpPr>
        <p:spPr>
          <a:xfrm>
            <a:off x="7943850" y="3390900"/>
            <a:ext cx="325755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O gráfico de rosca responde ao clique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Selecionar uma fatia de Imobilizado por categoria filtra a tabela de produtos daquela categoria.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19D8B98-5C63-44A0-A194-9C3257678B4E}"/>
              </a:ext>
            </a:extLst>
          </p:cNvPr>
          <p:cNvSpPr txBox="1"/>
          <p:nvPr/>
        </p:nvSpPr>
        <p:spPr>
          <a:xfrm>
            <a:off x="7943850" y="4476750"/>
            <a:ext cx="325755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Validade não é universal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Só 18 dos 42 produtos têm data controlada; os demais entram no cálculo sem essa trava.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9303D18-4C22-47A4-8087-4D2F5DFD0EA2}"/>
              </a:ext>
            </a:extLst>
          </p:cNvPr>
          <p:cNvSpPr txBox="1"/>
          <p:nvPr/>
        </p:nvSpPr>
        <p:spPr>
          <a:xfrm>
            <a:off x="762000" y="533400"/>
            <a:ext cx="381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DASHBOARD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FD0ACBE-E76C-4019-B6CE-5C860FB8EACF}"/>
              </a:ext>
            </a:extLst>
          </p:cNvPr>
          <p:cNvSpPr txBox="1"/>
          <p:nvPr/>
        </p:nvSpPr>
        <p:spPr>
          <a:xfrm>
            <a:off x="762000" y="800100"/>
            <a:ext cx="10668000" cy="5029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118"/>
                </a:solidFill>
                <a:latin typeface="Georgia"/>
                <a:ea typeface="Georgia"/>
              </a:rPr>
              <a:t>Cinco gráficos que respondem um ao outro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0F13EC0-6BBE-46E6-B5B9-76160C5346E7}"/>
              </a:ext>
            </a:extLst>
          </p:cNvPr>
          <p:cNvSpPr txBox="1"/>
          <p:nvPr/>
        </p:nvSpPr>
        <p:spPr>
          <a:xfrm>
            <a:off x="762000" y="1333500"/>
            <a:ext cx="10668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Chart.js 4.4.4 vendorizado, sem CDN. Cada série tem um propósito de leitura, não um propósito de enfeite.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642A58A-C8BA-4FF3-B5F2-67A14820D7A1}"/>
              </a:ext>
            </a:extLst>
          </p:cNvPr>
          <p:cNvSpPr txBox="1"/>
          <p:nvPr/>
        </p:nvSpPr>
        <p:spPr>
          <a:xfrm>
            <a:off x="762000" y="1866900"/>
            <a:ext cx="6286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1 · Fluxo do estoque em valor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30D9C7-B4DB-44C0-BA48-BE490F95BE75}"/>
              </a:ext>
            </a:extLst>
          </p:cNvPr>
          <p:cNvSpPr txBox="1"/>
          <p:nvPr/>
        </p:nvSpPr>
        <p:spPr>
          <a:xfrm>
            <a:off x="762000" y="2266950"/>
            <a:ext cx="62865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Linhas em dois eixos ao longo do período; os chips ligam e desligam cada série.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2581F64-9C2A-463E-A6AA-57A4D4674F55}"/>
              </a:ext>
            </a:extLst>
          </p:cNvPr>
          <p:cNvSpPr txBox="1"/>
          <p:nvPr/>
        </p:nvSpPr>
        <p:spPr>
          <a:xfrm>
            <a:off x="762000" y="2705100"/>
            <a:ext cx="6286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2 · Imobilizado por categoria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979CD4-E3B8-4290-9D57-519C31C6474F}"/>
              </a:ext>
            </a:extLst>
          </p:cNvPr>
          <p:cNvSpPr txBox="1"/>
          <p:nvPr/>
        </p:nvSpPr>
        <p:spPr>
          <a:xfrm>
            <a:off x="762000" y="3105150"/>
            <a:ext cx="62865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Rosca com clique: a fatia escolhida filtra a tabela de produtos do dashboard.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54FDF0F-09B7-41BB-B17F-72199C03DB57}"/>
              </a:ext>
            </a:extLst>
          </p:cNvPr>
          <p:cNvSpPr txBox="1"/>
          <p:nvPr/>
        </p:nvSpPr>
        <p:spPr>
          <a:xfrm>
            <a:off x="762000" y="3543300"/>
            <a:ext cx="6286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3 · Dias de cobertura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7DD4AF3-EA22-4AC0-83A0-CDD5A4CB4F0D}"/>
              </a:ext>
            </a:extLst>
          </p:cNvPr>
          <p:cNvSpPr txBox="1"/>
          <p:nvPr/>
        </p:nvSpPr>
        <p:spPr>
          <a:xfrm>
            <a:off x="762000" y="3943350"/>
            <a:ext cx="62865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Barras com os doze produtos mais apertados, ordenados do crítico para cima.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62B2159-B102-484A-8EB1-47E2B0684F84}"/>
              </a:ext>
            </a:extLst>
          </p:cNvPr>
          <p:cNvSpPr txBox="1"/>
          <p:nvPr/>
        </p:nvSpPr>
        <p:spPr>
          <a:xfrm>
            <a:off x="762000" y="4381500"/>
            <a:ext cx="6286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4 · Top 10 produtos por receita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E7E9B98-59C2-42BE-9F05-219C6A02D7AF}"/>
              </a:ext>
            </a:extLst>
          </p:cNvPr>
          <p:cNvSpPr txBox="1"/>
          <p:nvPr/>
        </p:nvSpPr>
        <p:spPr>
          <a:xfrm>
            <a:off x="762000" y="4781550"/>
            <a:ext cx="62865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Ranking em barras com quantidade × preço de venda no período.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5235BB-78AB-4ECF-A689-AB396614626D}"/>
              </a:ext>
            </a:extLst>
          </p:cNvPr>
          <p:cNvSpPr txBox="1"/>
          <p:nvPr/>
        </p:nvSpPr>
        <p:spPr>
          <a:xfrm>
            <a:off x="762000" y="5219700"/>
            <a:ext cx="6286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5 · Perdas por mês e motivo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FE34E41-E57C-414C-A468-59D64D162437}"/>
              </a:ext>
            </a:extLst>
          </p:cNvPr>
          <p:cNvSpPr txBox="1"/>
          <p:nvPr/>
        </p:nvSpPr>
        <p:spPr>
          <a:xfrm>
            <a:off x="762000" y="5619750"/>
            <a:ext cx="62865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C6A56"/>
                </a:solidFill>
                <a:latin typeface="Segoe UI"/>
                <a:ea typeface="Segoe UI"/>
              </a:rPr>
              <a:t>Empilhado de seis meses separando vencimento, quebra e avaria.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F1647E5-0C4A-4709-9C26-84E938E2CF7E}"/>
              </a:ext>
            </a:extLst>
          </p:cNvPr>
          <p:cNvSpPr/>
          <p:nvPr/>
        </p:nvSpPr>
        <p:spPr>
          <a:xfrm>
            <a:off x="7810500" y="1771650"/>
            <a:ext cx="3619500" cy="445770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40355EF-D82F-4297-BC5F-B718C9EF3D22}"/>
              </a:ext>
            </a:extLst>
          </p:cNvPr>
          <p:cNvSpPr txBox="1"/>
          <p:nvPr/>
        </p:nvSpPr>
        <p:spPr>
          <a:xfrm>
            <a:off x="8039100" y="1962150"/>
            <a:ext cx="31623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B3641F"/>
                </a:solidFill>
                <a:latin typeface="Segoe UI"/>
                <a:ea typeface="Segoe UI"/>
              </a:rPr>
              <a:t>A interação que fecha o ciclo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818A0EB-BD79-42EC-9D59-FBC4CE3A0CB3}"/>
              </a:ext>
            </a:extLst>
          </p:cNvPr>
          <p:cNvSpPr txBox="1"/>
          <p:nvPr/>
        </p:nvSpPr>
        <p:spPr>
          <a:xfrm>
            <a:off x="8039100" y="2305050"/>
            <a:ext cx="3162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Alerta leva ao produto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A faixa de alertas no topo do painel é clicável: cada cartão abre a lista já filtrada no item que o gerou.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EB2FF7D-147D-4203-BBD6-AC87359667EA}"/>
              </a:ext>
            </a:extLst>
          </p:cNvPr>
          <p:cNvSpPr txBox="1"/>
          <p:nvPr/>
        </p:nvSpPr>
        <p:spPr>
          <a:xfrm>
            <a:off x="8039100" y="3467100"/>
            <a:ext cx="3162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Rosca filtra a tabela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Selecionar uma categoria no gráfico de rosca reduz a tabela de produtos ao recorte escolhido.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183E496-74F7-4B59-9A44-3F8D4747886F}"/>
              </a:ext>
            </a:extLst>
          </p:cNvPr>
          <p:cNvSpPr txBox="1"/>
          <p:nvPr/>
        </p:nvSpPr>
        <p:spPr>
          <a:xfrm>
            <a:off x="8039100" y="4629150"/>
            <a:ext cx="3162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Série liga e desliga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6B5240"/>
                </a:solidFill>
                <a:latin typeface="Segoe UI"/>
                <a:ea typeface="Segoe UI"/>
              </a:rPr>
              <a:t>Os chips acima do gráfico de fluxo alternam cada série sem recarregar a tela nem perder o período.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99FDAE0-7CB5-4DDD-9C49-05DC68A52556}"/>
              </a:ext>
            </a:extLst>
          </p:cNvPr>
          <p:cNvSpPr txBox="1"/>
          <p:nvPr/>
        </p:nvSpPr>
        <p:spPr>
          <a:xfrm>
            <a:off x="762000" y="533400"/>
            <a:ext cx="43815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REGRAS DE NEGÓCIO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C64690-D154-4859-8CC2-8C2E3B71FC19}"/>
              </a:ext>
            </a:extLst>
          </p:cNvPr>
          <p:cNvSpPr txBox="1"/>
          <p:nvPr/>
        </p:nvSpPr>
        <p:spPr>
          <a:xfrm>
            <a:off x="762000" y="800100"/>
            <a:ext cx="9525000" cy="5143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A2118"/>
                </a:solidFill>
                <a:latin typeface="Georgia"/>
                <a:ea typeface="Georgia"/>
              </a:rPr>
              <a:t>O que a aplicação se recusa a gravar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D2CFF5A-1973-4EEC-ACF0-1C03C87D1757}"/>
              </a:ext>
            </a:extLst>
          </p:cNvPr>
          <p:cNvSpPr txBox="1"/>
          <p:nvPr/>
        </p:nvSpPr>
        <p:spPr>
          <a:xfrm>
            <a:off x="762000" y="1333500"/>
            <a:ext cx="10668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Quatro validações que só existem porque a planilha não existe: o erro aparece no clique, não no fechamento do mês.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B584DC5-46DD-4D7E-A461-28C76EE89921}"/>
              </a:ext>
            </a:extLst>
          </p:cNvPr>
          <p:cNvSpPr/>
          <p:nvPr/>
        </p:nvSpPr>
        <p:spPr>
          <a:xfrm>
            <a:off x="762000" y="1771650"/>
            <a:ext cx="5334000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7A63268-DD3C-4EF9-A24D-DF2DC1C861BF}"/>
              </a:ext>
            </a:extLst>
          </p:cNvPr>
          <p:cNvSpPr txBox="1"/>
          <p:nvPr/>
        </p:nvSpPr>
        <p:spPr>
          <a:xfrm>
            <a:off x="1047750" y="1962150"/>
            <a:ext cx="47625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Saldo que ficaria negativo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7DA299E-BDDD-490E-91AC-4BFC5C576D7E}"/>
              </a:ext>
            </a:extLst>
          </p:cNvPr>
          <p:cNvSpPr txBox="1"/>
          <p:nvPr/>
        </p:nvSpPr>
        <p:spPr>
          <a:xfrm>
            <a:off x="1047750" y="2324100"/>
            <a:ext cx="4762500" cy="1428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Registrar saída maior que o estoque disponível é barrado antes de gravar. A tela devolve a mensagem e o formulário continua aberto.</a:t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B3641F"/>
                </a:solidFill>
                <a:latin typeface="Consolas"/>
                <a:ea typeface="Consolas"/>
              </a:rPr>
              <a:t>Saldo insuficiente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593154A-5EF4-47EB-AE43-62E69124DFD2}"/>
              </a:ext>
            </a:extLst>
          </p:cNvPr>
          <p:cNvSpPr/>
          <p:nvPr/>
        </p:nvSpPr>
        <p:spPr>
          <a:xfrm>
            <a:off x="6286500" y="1771650"/>
            <a:ext cx="5143500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00714A-2BD2-4BE5-B4D9-8A804D777751}"/>
              </a:ext>
            </a:extLst>
          </p:cNvPr>
          <p:cNvSpPr txBox="1"/>
          <p:nvPr/>
        </p:nvSpPr>
        <p:spPr>
          <a:xfrm>
            <a:off x="6572250" y="1962150"/>
            <a:ext cx="4572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SKU repetido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2A399A4-5D98-4DAB-8117-8572E2984A51}"/>
              </a:ext>
            </a:extLst>
          </p:cNvPr>
          <p:cNvSpPr txBox="1"/>
          <p:nvPr/>
        </p:nvSpPr>
        <p:spPr>
          <a:xfrm>
            <a:off x="6572250" y="2324100"/>
            <a:ext cx="4572000" cy="1428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O código é a chave do histórico. Duplicar criaria dois saldos para o mesmo item da gôndola, e nenhuma soma depois os separa.</a:t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B3641F"/>
                </a:solidFill>
                <a:latin typeface="Consolas"/>
                <a:ea typeface="Consolas"/>
              </a:rPr>
              <a:t>sku já cadastrado  →  não salva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BFC6982-22F2-4CDF-A89F-1CD24D611266}"/>
              </a:ext>
            </a:extLst>
          </p:cNvPr>
          <p:cNvSpPr/>
          <p:nvPr/>
        </p:nvSpPr>
        <p:spPr>
          <a:xfrm>
            <a:off x="762000" y="4076700"/>
            <a:ext cx="5334000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A71F1F9-0505-4862-B102-52AA9876BE6B}"/>
              </a:ext>
            </a:extLst>
          </p:cNvPr>
          <p:cNvSpPr txBox="1"/>
          <p:nvPr/>
        </p:nvSpPr>
        <p:spPr>
          <a:xfrm>
            <a:off x="1047750" y="4267200"/>
            <a:ext cx="47625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Ajuste sem rastro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8696C3F-07FE-4ADD-8FC3-3BE14F45A07C}"/>
              </a:ext>
            </a:extLst>
          </p:cNvPr>
          <p:cNvSpPr txBox="1"/>
          <p:nvPr/>
        </p:nvSpPr>
        <p:spPr>
          <a:xfrm>
            <a:off x="1047750" y="4629150"/>
            <a:ext cx="4762500" cy="1428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Mudar a quantidade na tela de produtos não edita o cadastro: gera uma movimentação com motivo próprio, que entra na mesma série dos gráficos.</a:t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B3641F"/>
                </a:solidFill>
                <a:latin typeface="Consolas"/>
                <a:ea typeface="Consolas"/>
              </a:rPr>
              <a:t>motivo  Correção de inventário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156DA35-B113-43E2-A467-0E02DBD47D5A}"/>
              </a:ext>
            </a:extLst>
          </p:cNvPr>
          <p:cNvSpPr/>
          <p:nvPr/>
        </p:nvSpPr>
        <p:spPr>
          <a:xfrm>
            <a:off x="6286500" y="4076700"/>
            <a:ext cx="5143500" cy="2114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79BCFF2-6956-4670-84C1-716FE5A704D6}"/>
              </a:ext>
            </a:extLst>
          </p:cNvPr>
          <p:cNvSpPr txBox="1"/>
          <p:nvPr/>
        </p:nvSpPr>
        <p:spPr>
          <a:xfrm>
            <a:off x="6572250" y="4267200"/>
            <a:ext cx="4572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Perda que passa despercebida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490F553-0F0A-4EF1-815E-588657938F78}"/>
              </a:ext>
            </a:extLst>
          </p:cNvPr>
          <p:cNvSpPr txBox="1"/>
          <p:nvPr/>
        </p:nvSpPr>
        <p:spPr>
          <a:xfrm>
            <a:off x="6572250" y="4629150"/>
            <a:ext cx="4572000" cy="1428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Perda soma vencimento, quebra e avaria vezes preço de custo sobre o valor imobilizado. Passou de três por cento, o cartão sai do verde.</a:t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B3362B"/>
                </a:solidFill>
                <a:latin typeface="Consolas"/>
                <a:ea typeface="Consolas"/>
              </a:rPr>
              <a:t>perda &gt; 3%  →  vermelho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9AF3F8B-7102-4D87-B6BD-1A788BD23873}"/>
              </a:ext>
            </a:extLst>
          </p:cNvPr>
          <p:cNvSpPr txBox="1"/>
          <p:nvPr/>
        </p:nvSpPr>
        <p:spPr>
          <a:xfrm>
            <a:off x="762000" y="6381750"/>
            <a:ext cx="10668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9C8B78"/>
                </a:solidFill>
                <a:latin typeface="Segoe UI"/>
                <a:ea typeface="Segoe UI"/>
              </a:rPr>
              <a:t>Nenhuma dessas quatro regras depende de servidor: todas rodam antes de escrever em padaria.estoque.v1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34EDF0B-0923-4E4C-80AC-81DBA5FF3D33}"/>
              </a:ext>
            </a:extLst>
          </p:cNvPr>
          <p:cNvSpPr txBox="1"/>
          <p:nvPr/>
        </p:nvSpPr>
        <p:spPr>
          <a:xfrm>
            <a:off x="762000" y="533400"/>
            <a:ext cx="38100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REPOSIÇÃO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F1AE6FE-CC26-4A20-82A4-FDCFA6919A27}"/>
              </a:ext>
            </a:extLst>
          </p:cNvPr>
          <p:cNvSpPr txBox="1"/>
          <p:nvPr/>
        </p:nvSpPr>
        <p:spPr>
          <a:xfrm>
            <a:off x="762000" y="800100"/>
            <a:ext cx="102870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A2118"/>
                </a:solidFill>
                <a:latin typeface="Georgia"/>
                <a:ea typeface="Georgia"/>
              </a:rPr>
              <a:t>Reposição que já sai como lista de compra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0CF686E-8058-4C24-A3DF-FD793C05F1B6}"/>
              </a:ext>
            </a:extLst>
          </p:cNvPr>
          <p:cNvSpPr txBox="1"/>
          <p:nvPr/>
        </p:nvSpPr>
        <p:spPr>
          <a:xfrm>
            <a:off x="762000" y="1371600"/>
            <a:ext cx="10668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O alerta não devolve um número solto: ele calcula quanto falta, mostra em que faixa o item está e abre a entrada já preenchida.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B9FF03D-EDC2-4BD8-B478-95AA3E661E07}"/>
              </a:ext>
            </a:extLst>
          </p:cNvPr>
          <p:cNvSpPr/>
          <p:nvPr/>
        </p:nvSpPr>
        <p:spPr>
          <a:xfrm>
            <a:off x="762000" y="1771650"/>
            <a:ext cx="5334000" cy="238125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7675DB0-A619-411F-93F0-84E6940520A1}"/>
              </a:ext>
            </a:extLst>
          </p:cNvPr>
          <p:cNvSpPr txBox="1"/>
          <p:nvPr/>
        </p:nvSpPr>
        <p:spPr>
          <a:xfrm>
            <a:off x="1047750" y="1962150"/>
            <a:ext cx="47625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6B5240"/>
                </a:solidFill>
                <a:latin typeface="Georgia"/>
                <a:ea typeface="Georgia"/>
              </a:rPr>
              <a:t>Fórmula da compra sugerida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3FCB07A-33FF-447F-8800-6A20152B8C6B}"/>
              </a:ext>
            </a:extLst>
          </p:cNvPr>
          <p:cNvSpPr txBox="1"/>
          <p:nvPr/>
        </p:nvSpPr>
        <p:spPr>
          <a:xfrm>
            <a:off x="1047750" y="2305050"/>
            <a:ext cx="4762500" cy="4191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2100" b="1">
                <a:solidFill>
                  <a:srgbClr val="B3641F"/>
                </a:solidFill>
                <a:latin typeface="Consolas"/>
                <a:ea typeface="Consolas"/>
              </a:rPr>
              <a:t>max(qtdMin * 2 - qtd,  qtdMin)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E3F2FCA-9A2C-4999-BFCF-44A357A2ABB6}"/>
              </a:ext>
            </a:extLst>
          </p:cNvPr>
          <p:cNvSpPr txBox="1"/>
          <p:nvPr/>
        </p:nvSpPr>
        <p:spPr>
          <a:xfrm>
            <a:off x="1047750" y="2800350"/>
            <a:ext cx="476250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6B5240"/>
                </a:solidFill>
                <a:latin typeface="Segoe UI"/>
                <a:ea typeface="Segoe UI"/>
              </a:rPr>
              <a:t>Dobra o piso mínimo do produto e desconta o saldo atual. Se ainda assim sobra estoque, o resultado volta para o próprio mínimo, porque a compra nunca é zero.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93BDD91-8B4A-4DCE-B1DE-FC9C01DDBC21}"/>
              </a:ext>
            </a:extLst>
          </p:cNvPr>
          <p:cNvSpPr/>
          <p:nvPr/>
        </p:nvSpPr>
        <p:spPr>
          <a:xfrm>
            <a:off x="762000" y="4305300"/>
            <a:ext cx="5334000" cy="18859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DF704C8-219C-461F-8FF7-5385651C3DBC}"/>
              </a:ext>
            </a:extLst>
          </p:cNvPr>
          <p:cNvSpPr txBox="1"/>
          <p:nvPr/>
        </p:nvSpPr>
        <p:spPr>
          <a:xfrm>
            <a:off x="1047750" y="4495800"/>
            <a:ext cx="47625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Sai daqui, entra na planilha de quem compra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79FAA6-6CAC-4B72-9221-7746ECDE6F44}"/>
              </a:ext>
            </a:extLst>
          </p:cNvPr>
          <p:cNvSpPr txBox="1"/>
          <p:nvPr/>
        </p:nvSpPr>
        <p:spPr>
          <a:xfrm>
            <a:off x="1047750" y="4819650"/>
            <a:ext cx="476250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Produtos, movimentações e a lista de reposição são exportáveis em CSV. O arquivo abre em qualquer planilha — mas o cálculo continua acontecendo dentro da aplicação, sem depender dela.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537A283-6464-4C33-BC30-9C953831088D}"/>
              </a:ext>
            </a:extLst>
          </p:cNvPr>
          <p:cNvSpPr/>
          <p:nvPr/>
        </p:nvSpPr>
        <p:spPr>
          <a:xfrm>
            <a:off x="6286500" y="1771650"/>
            <a:ext cx="5143500" cy="1352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23EE625-6D6C-456C-9CAA-36B9A715DEFD}"/>
              </a:ext>
            </a:extLst>
          </p:cNvPr>
          <p:cNvSpPr txBox="1"/>
          <p:nvPr/>
        </p:nvSpPr>
        <p:spPr>
          <a:xfrm>
            <a:off x="6572250" y="1943100"/>
            <a:ext cx="45720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Faixas de cobertura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B581A0C-6AC4-41A0-BB74-0B5D8D8F0B79}"/>
              </a:ext>
            </a:extLst>
          </p:cNvPr>
          <p:cNvSpPr txBox="1"/>
          <p:nvPr/>
        </p:nvSpPr>
        <p:spPr>
          <a:xfrm>
            <a:off x="6572250" y="2247900"/>
            <a:ext cx="4572000" cy="781050"/>
          </a:xfrm>
        </p:spPr>
        <p:txBody>
          <a:bodyPr wrap="square" rtlCol="0" lIns="0" tIns="0" rIns="0" bIns="0" anchor="t"/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B3362B"/>
                </a:solidFill>
                <a:latin typeface="Segoe UI"/>
                <a:ea typeface="Segoe UI"/>
              </a:rPr>
              <a:t>Crítico </a:t>
            </a: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até 2 dias · </a:t>
            </a:r>
            <a:r>
              <a:rPr sz="1250" b="1">
                <a:solidFill>
                  <a:srgbClr val="A97400"/>
                </a:solidFill>
                <a:latin typeface="Segoe UI"/>
                <a:ea typeface="Segoe UI"/>
              </a:rPr>
              <a:t>Atenção </a:t>
            </a: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até 5 dias · acima disso o saldo é tratado como confortável.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7DB70D1-5B0A-407A-AA94-27023CB01724}"/>
              </a:ext>
            </a:extLst>
          </p:cNvPr>
          <p:cNvSpPr/>
          <p:nvPr/>
        </p:nvSpPr>
        <p:spPr>
          <a:xfrm>
            <a:off x="6286500" y="3238500"/>
            <a:ext cx="5143500" cy="1352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C85F5FD-8E30-4695-9F11-298570086335}"/>
              </a:ext>
            </a:extLst>
          </p:cNvPr>
          <p:cNvSpPr txBox="1"/>
          <p:nvPr/>
        </p:nvSpPr>
        <p:spPr>
          <a:xfrm>
            <a:off x="6572250" y="3409950"/>
            <a:ext cx="45720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Janela de validade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EACE0FD-0C25-44A8-9BAF-F59E39547946}"/>
              </a:ext>
            </a:extLst>
          </p:cNvPr>
          <p:cNvSpPr txBox="1"/>
          <p:nvPr/>
        </p:nvSpPr>
        <p:spPr>
          <a:xfrm>
            <a:off x="6572250" y="3714750"/>
            <a:ext cx="4572000" cy="781050"/>
          </a:xfrm>
        </p:spPr>
        <p:txBody>
          <a:bodyPr wrap="square" rtlCol="0" lIns="0" tIns="0" rIns="0" bIns="0" anchor="t"/>
          <a:lstStyle/>
          <a:p>
            <a:pPr>
              <a:lnSpc>
                <a:spcPct val="116000"/>
              </a:lnSpc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O alerta dispara </a:t>
            </a:r>
            <a:r>
              <a:rPr sz="1250" b="1">
                <a:solidFill>
                  <a:srgbClr val="B3641F"/>
                </a:solidFill>
                <a:latin typeface="Consolas"/>
                <a:ea typeface="Consolas"/>
              </a:rPr>
              <a:t>3 · 7 · 15 · 30 dias</a:t>
            </a: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 antes do vencimento. O painel abre em 7 e troca a faixa sem recarregar.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F873BDD9-9E16-43A2-9D90-65494F6B8F88}"/>
              </a:ext>
            </a:extLst>
          </p:cNvPr>
          <p:cNvSpPr/>
          <p:nvPr/>
        </p:nvSpPr>
        <p:spPr>
          <a:xfrm>
            <a:off x="6286500" y="4705350"/>
            <a:ext cx="5143500" cy="135255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3D8C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09182E3-D6C4-447B-BB88-2ADE5232E95C}"/>
              </a:ext>
            </a:extLst>
          </p:cNvPr>
          <p:cNvSpPr txBox="1"/>
          <p:nvPr/>
        </p:nvSpPr>
        <p:spPr>
          <a:xfrm>
            <a:off x="6572250" y="4876800"/>
            <a:ext cx="45720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Um clique fecha o ciclo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3A6EC1B-23A3-4292-B6CF-A0CB311933AD}"/>
              </a:ext>
            </a:extLst>
          </p:cNvPr>
          <p:cNvSpPr txBox="1"/>
          <p:nvPr/>
        </p:nvSpPr>
        <p:spPr>
          <a:xfrm>
            <a:off x="6572250" y="5181600"/>
            <a:ext cx="4572000" cy="781050"/>
          </a:xfrm>
        </p:spPr>
        <p:txBody>
          <a:bodyPr wrap="square" rtlCol="0" lIns="0" tIns="0" rIns="0" bIns="0" anchor="t"/>
          <a:lstStyle/>
          <a:p>
            <a:pPr>
              <a:lnSpc>
                <a:spcPct val="116000"/>
              </a:lnSpc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Cada linha de alerta leva ao produto; o botão </a:t>
            </a:r>
            <a:r>
              <a:rPr sz="1250" b="1">
                <a:solidFill>
                  <a:srgbClr val="2A2118"/>
                </a:solidFill>
                <a:latin typeface="Segoe UI"/>
                <a:ea typeface="Segoe UI"/>
              </a:rPr>
              <a:t>Comprar</a:t>
            </a: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 abre a movimentação de entrada já com o produto e a quantidade sugerida.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1774162-B3BA-410A-9372-12CE434EEB06}"/>
              </a:ext>
            </a:extLst>
          </p:cNvPr>
          <p:cNvSpPr txBox="1"/>
          <p:nvPr/>
        </p:nvSpPr>
        <p:spPr>
          <a:xfrm>
            <a:off x="762000" y="6343650"/>
            <a:ext cx="10668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9C8B78"/>
                </a:solidFill>
                <a:latin typeface="Segoe UI"/>
                <a:ea typeface="Segoe UI"/>
              </a:rPr>
              <a:t>Tudo acontece no navegador, lendo apenas padaria.estoque.v1 — nenhuma chamada de rede.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329A0AC-17DB-48F8-AFDF-341CEBA602FB}"/>
              </a:ext>
            </a:extLst>
          </p:cNvPr>
          <p:cNvSpPr txBox="1"/>
          <p:nvPr/>
        </p:nvSpPr>
        <p:spPr>
          <a:xfrm>
            <a:off x="762000" y="533400"/>
            <a:ext cx="3810000" cy="2476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9C8B78"/>
                </a:solidFill>
                <a:latin typeface="Segoe UI"/>
                <a:ea typeface="Segoe UI"/>
              </a:rPr>
              <a:t>FECHAMENTO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89DF5C-0C41-4023-A1E2-163D428AB2AE}"/>
              </a:ext>
            </a:extLst>
          </p:cNvPr>
          <p:cNvSpPr txBox="1"/>
          <p:nvPr/>
        </p:nvSpPr>
        <p:spPr>
          <a:xfrm>
            <a:off x="762000" y="800100"/>
            <a:ext cx="952500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3800" b="1">
                <a:solidFill>
                  <a:srgbClr val="2A2118"/>
                </a:solidFill>
                <a:latin typeface="Georgia"/>
                <a:ea typeface="Georgia"/>
              </a:rPr>
              <a:t>O que está no ar e o que vem depois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65A768-3A3E-4CDB-8255-80F569C57F69}"/>
              </a:ext>
            </a:extLst>
          </p:cNvPr>
          <p:cNvSpPr txBox="1"/>
          <p:nvPr/>
        </p:nvSpPr>
        <p:spPr>
          <a:xfrm>
            <a:off x="762000" y="1504950"/>
            <a:ext cx="10668000" cy="49530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7C6A56"/>
                </a:solidFill>
                <a:latin typeface="Segoe UI"/>
                <a:ea typeface="Segoe UI"/>
              </a:rPr>
              <a:t>Uma aplicação de estoque completa que roda em qualquer navegador, sem build e sem servidor. E um caminho claro para sair da seed.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1F77E6C-045E-4D90-A670-68A231250E30}"/>
              </a:ext>
            </a:extLst>
          </p:cNvPr>
          <p:cNvSpPr/>
          <p:nvPr/>
        </p:nvSpPr>
        <p:spPr>
          <a:xfrm>
            <a:off x="762000" y="2019300"/>
            <a:ext cx="5905500" cy="18669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B555ED4-B9B1-440F-9DDA-2FFCA9CCA98F}"/>
              </a:ext>
            </a:extLst>
          </p:cNvPr>
          <p:cNvSpPr txBox="1"/>
          <p:nvPr/>
        </p:nvSpPr>
        <p:spPr>
          <a:xfrm>
            <a:off x="1047750" y="2209800"/>
            <a:ext cx="5334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2A2118"/>
                </a:solidFill>
                <a:latin typeface="Georgia"/>
                <a:ea typeface="Georgia"/>
              </a:rPr>
              <a:t>No ar hoje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2323D9-76F2-4766-83A4-332D6A33813B}"/>
              </a:ext>
            </a:extLst>
          </p:cNvPr>
          <p:cNvSpPr txBox="1"/>
          <p:nvPr/>
        </p:nvSpPr>
        <p:spPr>
          <a:xfrm>
            <a:off x="1047750" y="2533650"/>
            <a:ext cx="533400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Dashboard, Produtos, Movimentações, Alertas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3.180 linhas escritas à mão, sem build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Chart.js 4.4.4 vendorizado, nenhum CDN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250">
                <a:solidFill>
                  <a:srgbClr val="7C6A56"/>
                </a:solidFill>
                <a:latin typeface="Segoe UI"/>
                <a:ea typeface="Segoe UI"/>
              </a:rPr>
              <a:t>Tema claro e escuro salvos no navegador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BC12DCF-B96A-4290-93C4-9BA5BD0389EF}"/>
              </a:ext>
            </a:extLst>
          </p:cNvPr>
          <p:cNvSpPr/>
          <p:nvPr/>
        </p:nvSpPr>
        <p:spPr>
          <a:xfrm>
            <a:off x="762000" y="4019550"/>
            <a:ext cx="5905500" cy="17526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25F6F8-C47B-45FB-A126-012B03C56927}"/>
              </a:ext>
            </a:extLst>
          </p:cNvPr>
          <p:cNvSpPr txBox="1"/>
          <p:nvPr/>
        </p:nvSpPr>
        <p:spPr>
          <a:xfrm>
            <a:off x="1047750" y="4210050"/>
            <a:ext cx="5334000" cy="2667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B3641F"/>
                </a:solidFill>
                <a:latin typeface="Georgia"/>
                <a:ea typeface="Georgia"/>
              </a:rPr>
              <a:t>A seguir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C1060FD-1AEA-4043-949F-A310A631B355}"/>
              </a:ext>
            </a:extLst>
          </p:cNvPr>
          <p:cNvSpPr txBox="1"/>
          <p:nvPr/>
        </p:nvSpPr>
        <p:spPr>
          <a:xfrm>
            <a:off x="1047750" y="4533900"/>
            <a:ext cx="5334000" cy="1047750"/>
          </a:xfrm>
        </p:spPr>
        <p:txBody>
          <a:bodyPr wrap="square" rtlCol="0" lIns="0" tIns="0" rIns="0" bIns="0" anchor="t"/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6B5240"/>
                </a:solidFill>
                <a:latin typeface="Segoe UI"/>
                <a:ea typeface="Segoe UI"/>
              </a:rPr>
              <a:t>Importar um CSV real de PDV no lugar da seed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250">
                <a:solidFill>
                  <a:srgbClr val="6B5240"/>
                </a:solidFill>
                <a:latin typeface="Segoe UI"/>
                <a:ea typeface="Segoe UI"/>
              </a:rPr>
              <a:t>Validar a cobertura com consumo de uma semana de verdade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250">
                <a:solidFill>
                  <a:srgbClr val="6B5240"/>
                </a:solidFill>
                <a:latin typeface="Segoe UI"/>
                <a:ea typeface="Segoe UI"/>
              </a:rPr>
              <a:t>Separar perda por centro de custo, não só por motivo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807B4D3-736E-423C-85FD-27FBD36053DA}"/>
              </a:ext>
            </a:extLst>
          </p:cNvPr>
          <p:cNvSpPr/>
          <p:nvPr/>
        </p:nvSpPr>
        <p:spPr>
          <a:xfrm>
            <a:off x="7048500" y="2019300"/>
            <a:ext cx="4381500" cy="3752850"/>
          </a:xfrm>
          <a:prstGeom prst="roundRect">
            <a:avLst/>
          </a:prstGeom>
          <a:solidFill>
            <a:srgbClr val="F7EBDC"/>
          </a:solidFill>
          <a:ln w="12700">
            <a:solidFill>
              <a:srgbClr val="E0C9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45E5479-3994-4243-A12B-C9109ABF0E0C}"/>
              </a:ext>
            </a:extLst>
          </p:cNvPr>
          <p:cNvSpPr txBox="1"/>
          <p:nvPr/>
        </p:nvSpPr>
        <p:spPr>
          <a:xfrm>
            <a:off x="7334250" y="2247900"/>
            <a:ext cx="3810000" cy="2286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200" b="1">
                <a:solidFill>
                  <a:srgbClr val="9C8B78"/>
                </a:solidFill>
                <a:latin typeface="Segoe UI"/>
                <a:ea typeface="Segoe UI"/>
              </a:rPr>
              <a:t>ONDE VER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D7A31B0-6795-4760-98D7-4A9828927629}"/>
              </a:ext>
            </a:extLst>
          </p:cNvPr>
          <p:cNvSpPr/>
          <p:nvPr/>
        </p:nvSpPr>
        <p:spPr>
          <a:xfrm>
            <a:off x="7334250" y="2514600"/>
            <a:ext cx="3810000" cy="9525"/>
          </a:xfrm>
          <a:prstGeom prst="rect">
            <a:avLst/>
          </a:prstGeom>
          <a:solidFill>
            <a:srgbClr val="E0C9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CF4F99D-F700-4733-96B6-5DF9B859ADB2}"/>
              </a:ext>
            </a:extLst>
          </p:cNvPr>
          <p:cNvSpPr txBox="1"/>
          <p:nvPr/>
        </p:nvSpPr>
        <p:spPr>
          <a:xfrm>
            <a:off x="7334250" y="2667000"/>
            <a:ext cx="3810000" cy="682346"/>
          </a:xfrm>
        </p:spPr>
        <p:txBody>
          <a:bodyPr wrap="square" rtlCol="0" lIns="0" tIns="0" rIns="0" bIns="0" anchor="t"/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Demonstração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B3641F"/>
                </a:solidFill>
                <a:latin typeface="Consolas"/>
                <a:ea typeface="Consolas"/>
              </a:rPr>
              <a:t>vitorvieira42.github.io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B3641F"/>
                </a:solidFill>
                <a:latin typeface="Consolas"/>
                <a:ea typeface="Consolas"/>
              </a:rPr>
              <a:t>controle-estoque-padaria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E6E515E-1416-4EA0-A350-D5EAA824F9A6}"/>
              </a:ext>
            </a:extLst>
          </p:cNvPr>
          <p:cNvSpPr txBox="1"/>
          <p:nvPr/>
        </p:nvSpPr>
        <p:spPr>
          <a:xfrm>
            <a:off x="7334250" y="3390900"/>
            <a:ext cx="3810000" cy="682346"/>
          </a:xfrm>
        </p:spPr>
        <p:txBody>
          <a:bodyPr wrap="square" rtlCol="0" lIns="0" tIns="0" rIns="0" bIns="0" anchor="t"/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2A2118"/>
                </a:solidFill>
                <a:latin typeface="Segoe UI"/>
                <a:ea typeface="Segoe UI"/>
              </a:rPr>
              <a:t>Repositório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B3641F"/>
                </a:solidFill>
                <a:latin typeface="Consolas"/>
                <a:ea typeface="Consolas"/>
              </a:rPr>
              <a:t>github.com/Vitorvieira42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B3641F"/>
                </a:solidFill>
                <a:latin typeface="Consolas"/>
                <a:ea typeface="Consolas"/>
              </a:rPr>
              <a:t>controle-estoque-padaria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452F6CF-4E82-4571-A9C2-2A18A4A84D1F}"/>
              </a:ext>
            </a:extLst>
          </p:cNvPr>
          <p:cNvSpPr txBox="1"/>
          <p:nvPr/>
        </p:nvSpPr>
        <p:spPr>
          <a:xfrm>
            <a:off x="7334250" y="4343400"/>
            <a:ext cx="3810000" cy="1047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900" b="1" i="1">
                <a:solidFill>
                  <a:srgbClr val="2A2118"/>
                </a:solidFill>
                <a:latin typeface="Georgia"/>
                <a:ea typeface="Georgia"/>
              </a:rPr>
              <a:t>4.809 movimentos registrados, 0 planilhas abertas.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A99B2EF-35DB-46D0-911A-4CD48EAC9444}"/>
              </a:ext>
            </a:extLst>
          </p:cNvPr>
          <p:cNvSpPr txBox="1"/>
          <p:nvPr/>
        </p:nvSpPr>
        <p:spPr>
          <a:xfrm>
            <a:off x="762000" y="6172200"/>
            <a:ext cx="106680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12000"/>
              </a:lnSpc>
            </a:pPr>
            <a:r>
              <a:rPr sz="1200">
                <a:solidFill>
                  <a:srgbClr val="9C8B78"/>
                </a:solidFill>
                <a:latin typeface="Segoe UI"/>
                <a:ea typeface="Segoe UI"/>
              </a:rPr>
              <a:t>Inventário de demonstração: produtos, fornecedores, preços e movimentações são sintéticos e gerados por seed.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